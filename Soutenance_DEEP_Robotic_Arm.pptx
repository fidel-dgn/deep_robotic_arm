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8" r:id="rId2"/>
    <p:sldId id="1370" r:id="rId3"/>
    <p:sldId id="1203" r:id="rId4"/>
    <p:sldId id="1355" r:id="rId5"/>
    <p:sldId id="1356" r:id="rId6"/>
    <p:sldId id="1357" r:id="rId7"/>
    <p:sldId id="1358" r:id="rId8"/>
    <p:sldId id="1360" r:id="rId9"/>
    <p:sldId id="1361" r:id="rId10"/>
    <p:sldId id="1362" r:id="rId11"/>
    <p:sldId id="1363" r:id="rId12"/>
    <p:sldId id="1367" r:id="rId13"/>
    <p:sldId id="1366" r:id="rId14"/>
    <p:sldId id="1369" r:id="rId15"/>
    <p:sldId id="1364" r:id="rId16"/>
    <p:sldId id="1368" r:id="rId17"/>
  </p:sldIdLst>
  <p:sldSz cx="9144000" cy="6858000" type="screen4x3"/>
  <p:notesSz cx="10233025" cy="71024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25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6" userDrawn="1">
          <p15:clr>
            <a:srgbClr val="A4A3A4"/>
          </p15:clr>
        </p15:guide>
        <p15:guide id="2" pos="322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4489"/>
    <a:srgbClr val="FFFFCC"/>
    <a:srgbClr val="CCCCFF"/>
    <a:srgbClr val="FF9900"/>
    <a:srgbClr val="FFCC99"/>
    <a:srgbClr val="CCFFCC"/>
    <a:srgbClr val="FFCCFF"/>
    <a:srgbClr val="FF0000"/>
    <a:srgbClr val="99FF99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31" autoAdjust="0"/>
    <p:restoredTop sz="86930" autoAdjust="0"/>
  </p:normalViewPr>
  <p:slideViewPr>
    <p:cSldViewPr showGuides="1">
      <p:cViewPr varScale="1">
        <p:scale>
          <a:sx n="95" d="100"/>
          <a:sy n="95" d="100"/>
        </p:scale>
        <p:origin x="1662" y="66"/>
      </p:cViewPr>
      <p:guideLst>
        <p:guide orient="horz" pos="1253"/>
        <p:guide pos="2880"/>
      </p:guideLst>
    </p:cSldViewPr>
  </p:slideViewPr>
  <p:outlineViewPr>
    <p:cViewPr>
      <p:scale>
        <a:sx n="33" d="100"/>
        <a:sy n="33" d="100"/>
      </p:scale>
      <p:origin x="0" y="70644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90" d="100"/>
        <a:sy n="90" d="100"/>
      </p:scale>
      <p:origin x="0" y="2382"/>
    </p:cViewPr>
  </p:sorterViewPr>
  <p:notesViewPr>
    <p:cSldViewPr showGuides="1">
      <p:cViewPr varScale="1">
        <p:scale>
          <a:sx n="72" d="100"/>
          <a:sy n="72" d="100"/>
        </p:scale>
        <p:origin x="-2148" y="-102"/>
      </p:cViewPr>
      <p:guideLst>
        <p:guide orient="horz" pos="2236"/>
        <p:guide pos="3221"/>
      </p:guideLst>
    </p:cSldViewPr>
  </p:notesViewPr>
  <p:gridSpacing cx="72010" cy="7201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7" y="7"/>
            <a:ext cx="4433257" cy="355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0" tIns="46560" rIns="93120" bIns="46560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endParaRPr lang="fr-F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7" y="6745824"/>
            <a:ext cx="4433257" cy="355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0" tIns="46560" rIns="93120" bIns="46560" numCol="1" anchor="b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endParaRPr lang="fr-F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341" y="6745824"/>
            <a:ext cx="4433257" cy="355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0" tIns="46560" rIns="93120" bIns="46560" numCol="1" anchor="b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fld id="{C66ABFC0-C276-40B9-B79A-EC67141DCFFA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quarter" idx="1"/>
          </p:nvPr>
        </p:nvSpPr>
        <p:spPr>
          <a:xfrm>
            <a:off x="5797341" y="7"/>
            <a:ext cx="4433257" cy="355522"/>
          </a:xfrm>
          <a:prstGeom prst="rect">
            <a:avLst/>
          </a:prstGeom>
        </p:spPr>
        <p:txBody>
          <a:bodyPr vert="horz" lIns="93120" tIns="46560" rIns="93120" bIns="46560" rtlCol="0"/>
          <a:lstStyle>
            <a:lvl1pPr algn="r">
              <a:defRPr sz="1500"/>
            </a:lvl1pPr>
          </a:lstStyle>
          <a:p>
            <a:fld id="{4AD71DE3-68BE-4DC6-AFEB-5DBC0AC07FF1}" type="datetimeFigureOut">
              <a:rPr lang="fr-FR" smtClean="0"/>
              <a:pPr/>
              <a:t>25/08/2023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7652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7" y="7"/>
            <a:ext cx="4433257" cy="355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0" tIns="46560" rIns="93120" bIns="46560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endParaRPr lang="fr-F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341" y="7"/>
            <a:ext cx="4433257" cy="355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0" tIns="46560" rIns="93120" bIns="46560" numCol="1" anchor="t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endParaRPr lang="fr-FR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1688" y="533400"/>
            <a:ext cx="3549650" cy="266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062" y="3373482"/>
            <a:ext cx="8186908" cy="3196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0" tIns="46560" rIns="93120" bIns="46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7" y="6745824"/>
            <a:ext cx="4433257" cy="355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0" tIns="46560" rIns="93120" bIns="46560" numCol="1" anchor="b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endParaRPr lang="fr-F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341" y="6745824"/>
            <a:ext cx="4433257" cy="355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0" tIns="46560" rIns="93120" bIns="46560" numCol="1" anchor="b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fld id="{8782C00D-ABA3-48E6-B3A1-679799B85E5B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78457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>
                <a:solidFill>
                  <a:srgbClr val="FF0000"/>
                </a:solidFill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59BBE70-3443-497E-A3AB-A783FF4D4395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79388" y="6567488"/>
            <a:ext cx="7921625" cy="360362"/>
          </a:xfrm>
        </p:spPr>
        <p:txBody>
          <a:bodyPr/>
          <a:lstStyle/>
          <a:p>
            <a:r>
              <a:rPr lang="fr-FR" dirty="0"/>
              <a:t>ESEO :: Présentation du projet d’électronique numérique :: 2021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530" y="274638"/>
            <a:ext cx="7138987" cy="490537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5113" indent="-265113" algn="just">
              <a:buClr>
                <a:srgbClr val="FFC000"/>
              </a:buClr>
              <a:buSzPct val="125000"/>
              <a:buFont typeface="Wingdings" pitchFamily="2" charset="2"/>
              <a:buChar char="§"/>
              <a:defRPr sz="1800">
                <a:solidFill>
                  <a:srgbClr val="004489"/>
                </a:solidFill>
              </a:defRPr>
            </a:lvl1pPr>
            <a:lvl2pPr marL="800100" indent="-342900" algn="just">
              <a:spcAft>
                <a:spcPts val="600"/>
              </a:spcAft>
              <a:buClr>
                <a:srgbClr val="00B050"/>
              </a:buClr>
              <a:buSzPct val="85000"/>
              <a:buFont typeface="Wingdings" pitchFamily="2" charset="2"/>
              <a:buChar char="Ø"/>
              <a:defRPr sz="1600">
                <a:solidFill>
                  <a:srgbClr val="333399"/>
                </a:solidFill>
              </a:defRPr>
            </a:lvl2pPr>
            <a:lvl3pPr algn="just">
              <a:defRPr sz="1400"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EE36A20-BB59-45A0-9117-B79DC909F96F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79388" y="6567488"/>
            <a:ext cx="7921625" cy="360362"/>
          </a:xfrm>
        </p:spPr>
        <p:txBody>
          <a:bodyPr/>
          <a:lstStyle/>
          <a:p>
            <a:r>
              <a:rPr lang="fr-FR" dirty="0"/>
              <a:t>ESEO :: Présentation du projet d’électronique numérique :: 2021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198137"/>
            <a:ext cx="7772400" cy="1362075"/>
          </a:xfrm>
        </p:spPr>
        <p:txBody>
          <a:bodyPr anchor="t"/>
          <a:lstStyle>
            <a:lvl1pPr marL="342900" indent="-342900" algn="ctr">
              <a:buFont typeface="+mj-lt"/>
              <a:buNone/>
              <a:defRPr sz="1700" b="1" cap="none" baseline="0">
                <a:solidFill>
                  <a:srgbClr val="004489"/>
                </a:solidFill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sous-titre 1"/>
          <p:cNvSpPr>
            <a:spLocks noGrp="1"/>
          </p:cNvSpPr>
          <p:nvPr>
            <p:ph type="body" idx="1"/>
          </p:nvPr>
        </p:nvSpPr>
        <p:spPr>
          <a:xfrm>
            <a:off x="722313" y="2679892"/>
            <a:ext cx="7772400" cy="1500187"/>
          </a:xfrm>
        </p:spPr>
        <p:txBody>
          <a:bodyPr anchor="ctr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2025C5B-A48B-4FA9-A84A-406412F91195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79388" y="6567488"/>
            <a:ext cx="7921625" cy="360362"/>
          </a:xfrm>
        </p:spPr>
        <p:txBody>
          <a:bodyPr/>
          <a:lstStyle/>
          <a:p>
            <a:r>
              <a:rPr lang="fr-FR" dirty="0"/>
              <a:t>ESEO :: Présentation du projet d’électronique numérique :: 2021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77533" y="274638"/>
            <a:ext cx="7138987" cy="490537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79388" y="1196975"/>
            <a:ext cx="4316412" cy="5256213"/>
          </a:xfrm>
        </p:spPr>
        <p:txBody>
          <a:bodyPr/>
          <a:lstStyle>
            <a:lvl1pPr marL="265113" indent="-265113">
              <a:buClr>
                <a:srgbClr val="FFC000"/>
              </a:buClr>
              <a:buSzPct val="125000"/>
              <a:buFont typeface="Wingdings" pitchFamily="2" charset="2"/>
              <a:buChar char="§"/>
              <a:defRPr sz="1800">
                <a:solidFill>
                  <a:srgbClr val="004489"/>
                </a:solidFill>
              </a:defRPr>
            </a:lvl1pPr>
            <a:lvl2pPr>
              <a:buClr>
                <a:srgbClr val="00B050"/>
              </a:buClr>
              <a:buSzPct val="85000"/>
              <a:buFont typeface="Wingdings" pitchFamily="2" charset="2"/>
              <a:buChar char="Ø"/>
              <a:defRPr sz="1600">
                <a:solidFill>
                  <a:srgbClr val="333399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316413" cy="5256213"/>
          </a:xfrm>
        </p:spPr>
        <p:txBody>
          <a:bodyPr/>
          <a:lstStyle>
            <a:lvl1pPr marL="265113" indent="-265113">
              <a:buClr>
                <a:srgbClr val="FFC000"/>
              </a:buClr>
              <a:buSzPct val="125000"/>
              <a:buFont typeface="Wingdings" pitchFamily="2" charset="2"/>
              <a:buChar char="§"/>
              <a:defRPr sz="1800">
                <a:solidFill>
                  <a:srgbClr val="004489"/>
                </a:solidFill>
              </a:defRPr>
            </a:lvl1pPr>
            <a:lvl2pPr>
              <a:buClr>
                <a:srgbClr val="00B050"/>
              </a:buClr>
              <a:buSzPct val="85000"/>
              <a:buFont typeface="Wingdings" pitchFamily="2" charset="2"/>
              <a:buChar char="Ø"/>
              <a:defRPr sz="1600">
                <a:solidFill>
                  <a:srgbClr val="333399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BAE0612-9B0D-425E-B044-E598C325983B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79388" y="6567488"/>
            <a:ext cx="7921625" cy="360362"/>
          </a:xfrm>
        </p:spPr>
        <p:txBody>
          <a:bodyPr/>
          <a:lstStyle/>
          <a:p>
            <a:r>
              <a:rPr lang="fr-FR" dirty="0"/>
              <a:t>ESEO :: Présentation du projet d’électronique numérique :: 2021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542088"/>
            <a:ext cx="9144000" cy="31591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9388" y="6567488"/>
            <a:ext cx="7921625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ESEO :: Présentation du projet d’électronique numérique :: 2021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01013" y="6567488"/>
            <a:ext cx="863600" cy="38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B566ED00-6F38-474D-8F49-758E9574585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41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691600" y="274638"/>
            <a:ext cx="6634917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1042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8522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TITRE DE LA PAGE (tailles de typo libre selon utilisation…)</a:t>
            </a:r>
          </a:p>
          <a:p>
            <a:pPr lvl="1"/>
            <a:r>
              <a:rPr lang="fr-FR" dirty="0"/>
              <a:t>1.1 Sous titre</a:t>
            </a:r>
          </a:p>
          <a:p>
            <a:pPr lvl="2"/>
            <a:r>
              <a:rPr lang="fr-FR" dirty="0"/>
              <a:t>Troisième niveau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370" y="44530"/>
            <a:ext cx="1030878" cy="28804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 flipH="1">
            <a:off x="0" y="779211"/>
            <a:ext cx="9144000" cy="74864"/>
          </a:xfrm>
          <a:prstGeom prst="rect">
            <a:avLst/>
          </a:prstGeom>
          <a:gradFill flip="none" rotWithShape="1">
            <a:gsLst>
              <a:gs pos="0">
                <a:srgbClr val="962051"/>
              </a:gs>
              <a:gs pos="99000">
                <a:srgbClr val="E84926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defRPr sz="24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hyperlink" Target="mailto:alan.turing@eseo.fr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hyperlink" Target="mailto:ikola.testa@eseo.fr" TargetMode="Externa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>
          <a:xfrm>
            <a:off x="683460" y="1124680"/>
            <a:ext cx="8065120" cy="616443"/>
          </a:xfrm>
        </p:spPr>
        <p:txBody>
          <a:bodyPr/>
          <a:lstStyle/>
          <a:p>
            <a:r>
              <a:rPr lang="fr-FR" sz="4000" dirty="0">
                <a:solidFill>
                  <a:srgbClr val="C00000"/>
                </a:solidFill>
              </a:rPr>
              <a:t>Projet d’électronique numérique</a:t>
            </a:r>
            <a:endParaRPr lang="fr-FR" sz="4000" i="1" dirty="0">
              <a:solidFill>
                <a:srgbClr val="C00000"/>
              </a:solidFill>
            </a:endParaRPr>
          </a:p>
        </p:txBody>
      </p:sp>
      <p:sp>
        <p:nvSpPr>
          <p:cNvPr id="12" name="Sous-titre 11"/>
          <p:cNvSpPr>
            <a:spLocks noGrp="1"/>
          </p:cNvSpPr>
          <p:nvPr>
            <p:ph type="subTitle" idx="1"/>
          </p:nvPr>
        </p:nvSpPr>
        <p:spPr>
          <a:xfrm>
            <a:off x="7596420" y="5949350"/>
            <a:ext cx="1403560" cy="428214"/>
          </a:xfrm>
        </p:spPr>
        <p:txBody>
          <a:bodyPr/>
          <a:lstStyle/>
          <a:p>
            <a:r>
              <a:rPr lang="fr-FR" dirty="0"/>
              <a:t>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38900"/>
            <a:ext cx="3810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</a:rPr>
              <a:t>Projet réalisé par :</a:t>
            </a:r>
          </a:p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DEGUENON Fidel</a:t>
            </a:r>
            <a:endParaRPr lang="fr-FR" sz="1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hlinkClick r:id="rId4"/>
              </a:rPr>
              <a:t>DIALLO Seydou Idrissa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</a:rPr>
              <a:t xml:space="preserve"> </a:t>
            </a:r>
            <a:endParaRPr lang="fr-FR" sz="1400" dirty="0"/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 bwMode="auto">
          <a:xfrm>
            <a:off x="881167" y="2118156"/>
            <a:ext cx="7417033" cy="3384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fr-FR" kern="0" dirty="0"/>
              <a:t>Bras robotique de tri automatique par couleur</a:t>
            </a:r>
          </a:p>
          <a:p>
            <a:pPr algn="l"/>
            <a:endParaRPr lang="fr-FR" kern="0" dirty="0"/>
          </a:p>
          <a:p>
            <a:pPr algn="l"/>
            <a:r>
              <a:rPr lang="fr-FR" kern="0" dirty="0"/>
              <a:t>Système mécatronique de détection et de tri RGB sur carte Nucleo STM32G431KB</a:t>
            </a:r>
          </a:p>
          <a:p>
            <a:pPr algn="l"/>
            <a:r>
              <a:rPr lang="fr-FR" kern="0" dirty="0"/>
              <a:t>Encadré par BOUVIER Thierry — ESEO Angers 2025</a:t>
            </a:r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79388" y="6567488"/>
            <a:ext cx="7921625" cy="360362"/>
          </a:xfrm>
        </p:spPr>
        <p:txBody>
          <a:bodyPr/>
          <a:lstStyle/>
          <a:p>
            <a:r>
              <a:rPr lang="fr-FR" dirty="0"/>
              <a:t>ESEO :: Présentation du projet d’électronique numérique :: 2025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E36A20-BB59-45A0-9117-B79DC909F96F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ESEO :: Présentation du projet d’électronique numérique :: 2025</a:t>
            </a:r>
            <a:endParaRPr lang="fr-FR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 bwMode="auto">
          <a:xfrm>
            <a:off x="179388" y="1038225"/>
            <a:ext cx="878522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5113" indent="-265113" algn="just" rtl="0" fontAlgn="base"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SzPct val="125000"/>
              <a:buFont typeface="Wingdings" pitchFamily="2" charset="2"/>
              <a:buChar char="§"/>
              <a:defRPr sz="1800" b="1">
                <a:solidFill>
                  <a:srgbClr val="004489"/>
                </a:solidFill>
                <a:latin typeface="+mn-lt"/>
                <a:ea typeface="+mn-ea"/>
                <a:cs typeface="+mn-cs"/>
              </a:defRPr>
            </a:lvl1pPr>
            <a:lvl2pPr marL="800100" indent="-342900" algn="just" rtl="0" fontAlgn="base">
              <a:spcBef>
                <a:spcPct val="20000"/>
              </a:spcBef>
              <a:spcAft>
                <a:spcPts val="600"/>
              </a:spcAft>
              <a:buClr>
                <a:srgbClr val="00B050"/>
              </a:buClr>
              <a:buSzPct val="85000"/>
              <a:buFont typeface="Wingdings" pitchFamily="2" charset="2"/>
              <a:buChar char="Ø"/>
              <a:defRPr sz="1600">
                <a:solidFill>
                  <a:srgbClr val="333399"/>
                </a:solidFill>
                <a:latin typeface="+mn-lt"/>
                <a:cs typeface="+mn-cs"/>
              </a:defRPr>
            </a:lvl2pPr>
            <a:lvl3pPr marL="1143000" indent="-228600" algn="just" rtl="0" fontAlgn="base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just" rtl="0" fontAlgn="base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just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Quelques conseils pour rédiger un support de présentation…</a:t>
            </a:r>
          </a:p>
          <a:p>
            <a:pPr marL="0" indent="0">
              <a:buNone/>
            </a:pPr>
            <a:endParaRPr lang="fr-FR" kern="0" dirty="0"/>
          </a:p>
          <a:p>
            <a:r>
              <a:rPr lang="fr-FR" kern="0" dirty="0"/>
              <a:t xml:space="preserve">Sur </a:t>
            </a:r>
            <a:r>
              <a:rPr lang="fr-FR" dirty="0"/>
              <a:t>chaque slide, posez vous les questions suivantes :</a:t>
            </a:r>
          </a:p>
          <a:p>
            <a:pPr lvl="1"/>
            <a:r>
              <a:rPr lang="fr-FR" b="1" u="sng" dirty="0">
                <a:solidFill>
                  <a:srgbClr val="FF0000"/>
                </a:solidFill>
              </a:rPr>
              <a:t>« quel message je veux faire passer » ?</a:t>
            </a:r>
          </a:p>
          <a:p>
            <a:pPr lvl="1"/>
            <a:r>
              <a:rPr lang="fr-FR" dirty="0"/>
              <a:t>Puis-je expliquer ce message avec une image :</a:t>
            </a:r>
          </a:p>
          <a:p>
            <a:pPr lvl="2"/>
            <a:r>
              <a:rPr lang="fr-FR" dirty="0"/>
              <a:t>Chronogramme, graphique, dessin, schéma, croquis, illustration, photo, …</a:t>
            </a:r>
          </a:p>
          <a:p>
            <a:pPr lvl="1"/>
            <a:r>
              <a:rPr lang="fr-FR" dirty="0"/>
              <a:t>Y-a-t-il beaucoup de texte ? / Puis-je résumer en quelques items ?</a:t>
            </a:r>
          </a:p>
          <a:p>
            <a:pPr lvl="1"/>
            <a:r>
              <a:rPr lang="fr-FR" dirty="0"/>
              <a:t>Est-ce lisible de loin / suffisamment contrasté ?</a:t>
            </a:r>
          </a:p>
          <a:p>
            <a:pPr lvl="1"/>
            <a:r>
              <a:rPr lang="fr-FR" dirty="0"/>
              <a:t>Est-ce que cette slide va servir mon discours ?</a:t>
            </a:r>
          </a:p>
          <a:p>
            <a:pPr lvl="1"/>
            <a:endParaRPr lang="fr-FR" dirty="0"/>
          </a:p>
          <a:p>
            <a:pPr lvl="2"/>
            <a:endParaRPr lang="fr-FR" kern="0" dirty="0"/>
          </a:p>
        </p:txBody>
      </p:sp>
    </p:spTree>
    <p:extLst>
      <p:ext uri="{BB962C8B-B14F-4D97-AF65-F5344CB8AC3E}">
        <p14:creationId xmlns:p14="http://schemas.microsoft.com/office/powerpoint/2010/main" val="230357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E36A20-BB59-45A0-9117-B79DC909F96F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fr-FR" dirty="0"/>
              <a:t>But du projet</a:t>
            </a:r>
          </a:p>
          <a:p>
            <a:pPr algn="l"/>
            <a:r>
              <a:rPr lang="fr-FR" dirty="0"/>
              <a:t>Fonctionnalités du dispositif</a:t>
            </a:r>
          </a:p>
          <a:p>
            <a:pPr algn="l"/>
            <a:r>
              <a:rPr lang="fr-FR" dirty="0"/>
              <a:t>Capteurs et actionneurs utilisés</a:t>
            </a:r>
          </a:p>
          <a:p>
            <a:pPr algn="l"/>
            <a:r>
              <a:rPr lang="fr-FR" dirty="0"/>
              <a:t>Développement matériel</a:t>
            </a:r>
          </a:p>
          <a:p>
            <a:pPr lvl="1" algn="l"/>
            <a:r>
              <a:rPr lang="fr-FR" dirty="0"/>
              <a:t>Architecture</a:t>
            </a:r>
          </a:p>
          <a:p>
            <a:pPr lvl="1" algn="l"/>
            <a:r>
              <a:rPr lang="fr-FR" dirty="0"/>
              <a:t>Problèmes rencontrés</a:t>
            </a:r>
          </a:p>
          <a:p>
            <a:pPr algn="l"/>
            <a:r>
              <a:rPr lang="fr-FR" dirty="0"/>
              <a:t>Développement logiciel</a:t>
            </a:r>
          </a:p>
          <a:p>
            <a:pPr lvl="1" algn="l"/>
            <a:r>
              <a:rPr lang="fr-FR" dirty="0"/>
              <a:t>Architecture</a:t>
            </a:r>
          </a:p>
          <a:p>
            <a:pPr lvl="1" algn="l"/>
            <a:r>
              <a:rPr lang="fr-FR" dirty="0"/>
              <a:t>Etats du système</a:t>
            </a:r>
          </a:p>
          <a:p>
            <a:pPr lvl="1" algn="l"/>
            <a:r>
              <a:rPr lang="fr-FR" dirty="0"/>
              <a:t>Tests</a:t>
            </a:r>
          </a:p>
          <a:p>
            <a:pPr lvl="1" algn="l"/>
            <a:r>
              <a:rPr lang="fr-FR" dirty="0"/>
              <a:t>Problèmes rencontrés</a:t>
            </a:r>
          </a:p>
          <a:p>
            <a:pPr algn="ctr"/>
            <a:endParaRPr lang="fr-FR" dirty="0"/>
          </a:p>
          <a:p>
            <a:pPr algn="l"/>
            <a:r>
              <a:rPr lang="fr-FR" dirty="0"/>
              <a:t>Perspectives d’évolutions</a:t>
            </a:r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79388" y="6567488"/>
            <a:ext cx="7921625" cy="360362"/>
          </a:xfrm>
        </p:spPr>
        <p:txBody>
          <a:bodyPr/>
          <a:lstStyle/>
          <a:p>
            <a:r>
              <a:rPr lang="fr-FR" dirty="0"/>
              <a:t>ESEO :: Présentation du projet d’électronique numérique :: 2025</a:t>
            </a:r>
          </a:p>
        </p:txBody>
      </p:sp>
    </p:spTree>
    <p:extLst>
      <p:ext uri="{BB962C8B-B14F-4D97-AF65-F5344CB8AC3E}">
        <p14:creationId xmlns:p14="http://schemas.microsoft.com/office/powerpoint/2010/main" val="95894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 du projet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Contexte industriel :</a:t>
            </a:r>
          </a:p>
          <a:p>
            <a:pPr lvl="1"/>
            <a:r>
              <a:rPr lang="fr-FR" dirty="0"/>
              <a:t>Dans la logistique et le contrôle qualité, le tri visuel de composants est une tâche répétitive idéale pour l’automatisation.</a:t>
            </a:r>
          </a:p>
          <a:p>
            <a:r>
              <a:rPr lang="fr-FR" b="1" dirty="0"/>
              <a:t>Objectif du projet :</a:t>
            </a:r>
          </a:p>
          <a:p>
            <a:pPr lvl="1"/>
            <a:r>
              <a:rPr lang="fr-FR" dirty="0"/>
              <a:t>Concevoir un système mécatronique autonome capable de détecter la couleur d’un objet (rouge, vert, bleu) et de le trier automatiquement.</a:t>
            </a:r>
          </a:p>
          <a:p>
            <a:r>
              <a:rPr lang="fr-FR" b="1" dirty="0"/>
              <a:t>Fonction principale :</a:t>
            </a:r>
          </a:p>
          <a:p>
            <a:pPr lvl="1"/>
            <a:r>
              <a:rPr lang="fr-FR" dirty="0"/>
              <a:t>Identifier puis déplacer les objets vers 3 zones distinctes (Rouge, Vert, Bleu) sans intervention humaine.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E36A20-BB59-45A0-9117-B79DC909F96F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79388" y="6567488"/>
            <a:ext cx="7921625" cy="360362"/>
          </a:xfrm>
        </p:spPr>
        <p:txBody>
          <a:bodyPr/>
          <a:lstStyle/>
          <a:p>
            <a:r>
              <a:rPr lang="fr-FR" dirty="0"/>
              <a:t>ESEO :: Présentation du projet d’électronique numérique :: 2025</a:t>
            </a:r>
          </a:p>
        </p:txBody>
      </p:sp>
    </p:spTree>
    <p:extLst>
      <p:ext uri="{BB962C8B-B14F-4D97-AF65-F5344CB8AC3E}">
        <p14:creationId xmlns:p14="http://schemas.microsoft.com/office/powerpoint/2010/main" val="3483157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Spécifications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Fonctionnalités principales</a:t>
            </a:r>
          </a:p>
          <a:p>
            <a:pPr lvl="1"/>
            <a:r>
              <a:rPr lang="fr-FR" dirty="0"/>
              <a:t>Détection de couleur (rouge, vert, bleu) via capteur APDS-9960</a:t>
            </a:r>
          </a:p>
          <a:p>
            <a:pPr lvl="1"/>
            <a:r>
              <a:rPr lang="fr-FR" dirty="0"/>
              <a:t>Tri automatique vers 3 zones dédiées — sans intervention humaine</a:t>
            </a:r>
          </a:p>
          <a:p>
            <a:pPr lvl="1"/>
            <a:r>
              <a:rPr lang="fr-FR" dirty="0"/>
              <a:t>Bras articulé 5 servomoteurs : base, épaule, coude, poignet, pince</a:t>
            </a:r>
          </a:p>
          <a:p>
            <a:pPr lvl="1"/>
            <a:r>
              <a:rPr lang="fr-FR" dirty="0"/>
              <a:t>Interface HMI sur écran TFT ILI9341 (état, distance, RGB, couleur détectée)</a:t>
            </a:r>
          </a:p>
          <a:p>
            <a:r>
              <a:rPr lang="fr-FR" b="1" dirty="0"/>
              <a:t>Limites et contraintes</a:t>
            </a:r>
          </a:p>
          <a:p>
            <a:pPr lvl="1"/>
            <a:r>
              <a:rPr lang="fr-FR" dirty="0"/>
              <a:t>Tri limité à 3 couleurs — détection par comparaison directe des composantes RGB</a:t>
            </a:r>
          </a:p>
          <a:p>
            <a:pPr lvl="1"/>
            <a:r>
              <a:rPr lang="fr-FR" dirty="0"/>
              <a:t>Commande en boucle ouverte : précision dépendante des servomoteurs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E36A20-BB59-45A0-9117-B79DC909F96F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79388" y="6567488"/>
            <a:ext cx="7921625" cy="360362"/>
          </a:xfrm>
        </p:spPr>
        <p:txBody>
          <a:bodyPr/>
          <a:lstStyle/>
          <a:p>
            <a:r>
              <a:rPr lang="fr-FR" dirty="0"/>
              <a:t>ESEO :: Présentation du projet d’électronique numérique :: 2025</a:t>
            </a:r>
          </a:p>
        </p:txBody>
      </p:sp>
    </p:spTree>
    <p:extLst>
      <p:ext uri="{BB962C8B-B14F-4D97-AF65-F5344CB8AC3E}">
        <p14:creationId xmlns:p14="http://schemas.microsoft.com/office/powerpoint/2010/main" val="634827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Composants utilisés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Capteur APDS-9960 (I2C)</a:t>
            </a:r>
          </a:p>
          <a:p>
            <a:pPr lvl="1"/>
            <a:r>
              <a:rPr lang="fr-FR" dirty="0"/>
              <a:t>Détection de proximité et mesure des composantes Rouge, Vert, Bleu</a:t>
            </a:r>
          </a:p>
          <a:p>
            <a:r>
              <a:rPr lang="fr-FR" b="1" dirty="0"/>
              <a:t>Microcontrôleur STM32G431KB (carte Nucleo)</a:t>
            </a:r>
          </a:p>
          <a:p>
            <a:pPr lvl="1"/>
            <a:r>
              <a:rPr lang="fr-FR" dirty="0"/>
              <a:t>Unité de traitement centrale — gestion I2C, SPI, PWM, UART</a:t>
            </a:r>
          </a:p>
          <a:p>
            <a:r>
              <a:rPr lang="fr-FR" b="1" dirty="0"/>
              <a:t>5 Servomoteurs (PWM 50 Hz)</a:t>
            </a:r>
          </a:p>
          <a:p>
            <a:pPr lvl="1"/>
            <a:r>
              <a:rPr lang="fr-FR" dirty="0"/>
              <a:t>Base (PB4), Épaule (PB0), Coude (PA10), Poignet (PA0), Pince (PA1)</a:t>
            </a:r>
          </a:p>
          <a:p>
            <a:r>
              <a:rPr lang="fr-FR" b="1" dirty="0"/>
              <a:t>Écran TFT ILI9341 (SPI)</a:t>
            </a:r>
          </a:p>
          <a:p>
            <a:pPr lvl="1"/>
            <a:r>
              <a:rPr lang="fr-FR" dirty="0"/>
              <a:t>Affichage temps réel de l’état, proximité, valeurs RGB et résultat de tri</a:t>
            </a:r>
          </a:p>
          <a:p>
            <a:r>
              <a:rPr lang="fr-FR" b="1" dirty="0"/>
              <a:t>Alimentation double</a:t>
            </a:r>
          </a:p>
          <a:p>
            <a:pPr lvl="1"/>
            <a:r>
              <a:rPr lang="fr-FR" dirty="0"/>
              <a:t>5V puissance (servos) + 12V régulé en 5V (LM7805) puis 3,3V (LF33CV) pour logique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E36A20-BB59-45A0-9117-B79DC909F96F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79388" y="6567488"/>
            <a:ext cx="7921625" cy="360362"/>
          </a:xfrm>
        </p:spPr>
        <p:txBody>
          <a:bodyPr/>
          <a:lstStyle/>
          <a:p>
            <a:r>
              <a:rPr lang="fr-FR" dirty="0"/>
              <a:t>ESEO :: Présentation du projet d’électronique numérique :: 2025</a:t>
            </a:r>
          </a:p>
        </p:txBody>
      </p:sp>
    </p:spTree>
    <p:extLst>
      <p:ext uri="{BB962C8B-B14F-4D97-AF65-F5344CB8AC3E}">
        <p14:creationId xmlns:p14="http://schemas.microsoft.com/office/powerpoint/2010/main" val="3281294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Capteur de température DS18B20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Principe de fonctionnement</a:t>
            </a:r>
          </a:p>
          <a:p>
            <a:pPr lvl="1"/>
            <a:r>
              <a:rPr lang="fr-FR" dirty="0"/>
              <a:t>Le capteur APDS-9960 mesure l’intensité lumineuse réfléchie dans les canaux Rouge, Vert, Bleu et Clear via des photodiodes internes.</a:t>
            </a:r>
          </a:p>
          <a:p>
            <a:r>
              <a:rPr lang="fr-FR" b="1" dirty="0"/>
              <a:t>Protocole de communication : I2C (bus I2C1)</a:t>
            </a:r>
          </a:p>
          <a:p>
            <a:pPr lvl="1"/>
            <a:r>
              <a:rPr lang="fr-FR" dirty="0"/>
              <a:t>SDA → PB7 — SCL → PB6</a:t>
            </a:r>
          </a:p>
          <a:p>
            <a:pPr lvl="1"/>
            <a:r>
              <a:rPr lang="fr-FR" dirty="0"/>
              <a:t>Adresse I2C : 0x39 — driver BSP : stm32g4_apds9960</a:t>
            </a:r>
          </a:p>
          <a:p>
            <a:r>
              <a:rPr lang="fr-FR" b="1" dirty="0"/>
              <a:t>Point technique : correction de saturation</a:t>
            </a:r>
          </a:p>
          <a:p>
            <a:pPr lvl="1"/>
            <a:r>
              <a:rPr lang="fr-FR" dirty="0"/>
              <a:t>Gain fixé à AGAIN_1X pour éviter la saturation des valeurs RGB en éclairage fort</a:t>
            </a:r>
          </a:p>
          <a:p>
            <a:r>
              <a:rPr lang="fr-FR" b="1" dirty="0"/>
              <a:t>Limite</a:t>
            </a:r>
          </a:p>
          <a:p>
            <a:pPr lvl="1"/>
            <a:r>
              <a:rPr lang="fr-FR" dirty="0"/>
              <a:t>Détection sensible à l’éclairage ambiant — comparaison RGB directe sans correction colorimétrique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E36A20-BB59-45A0-9117-B79DC909F96F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79388" y="6567488"/>
            <a:ext cx="7921625" cy="360362"/>
          </a:xfrm>
        </p:spPr>
        <p:txBody>
          <a:bodyPr/>
          <a:lstStyle/>
          <a:p>
            <a:r>
              <a:rPr lang="fr-FR" dirty="0"/>
              <a:t>ESEO :: Présentation du projet d’électronique numérique :: 2025</a:t>
            </a:r>
          </a:p>
        </p:txBody>
      </p:sp>
    </p:spTree>
    <p:extLst>
      <p:ext uri="{BB962C8B-B14F-4D97-AF65-F5344CB8AC3E}">
        <p14:creationId xmlns:p14="http://schemas.microsoft.com/office/powerpoint/2010/main" val="1327473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 xml:space="preserve">Actionneur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Principe de pilotage des servomoteurs</a:t>
            </a:r>
          </a:p>
          <a:p>
            <a:pPr lvl="1"/>
            <a:r>
              <a:rPr lang="fr-FR" dirty="0"/>
              <a:t>Signal PWM période 20 ms (50 Hz) — position codée par la largeur d’impulsion (1–2 ms)</a:t>
            </a:r>
          </a:p>
          <a:p>
            <a:pPr lvl="1"/>
            <a:r>
              <a:rPr lang="fr-FR" dirty="0"/>
              <a:t>Rapport cyclique réglé par BSP_TIMER_set_duty() via TIMER1, TIMER2, TIMER3</a:t>
            </a:r>
          </a:p>
          <a:p>
            <a:r>
              <a:rPr lang="fr-FR" b="1" dirty="0"/>
              <a:t>Répartition des voies PWM</a:t>
            </a:r>
          </a:p>
          <a:p>
            <a:pPr lvl="1"/>
            <a:r>
              <a:rPr lang="fr-FR" dirty="0"/>
              <a:t>TIM3_CH1 (PB4) → Base — TIM3_CH3 (PB0) → Épaule</a:t>
            </a:r>
          </a:p>
          <a:p>
            <a:pPr lvl="1"/>
            <a:r>
              <a:rPr lang="fr-FR" dirty="0"/>
              <a:t>TIM1_CH3 (PA10) → Coude — TIM2_CH1 (PA0) → Poignet — TIM2_CH2 (PA1) → Pince</a:t>
            </a:r>
          </a:p>
          <a:p>
            <a:r>
              <a:rPr lang="fr-FR" b="1" dirty="0"/>
              <a:t>Séquences de mouvement</a:t>
            </a:r>
          </a:p>
          <a:p>
            <a:pPr lvl="1"/>
            <a:r>
              <a:rPr lang="fr-FR" dirty="0"/>
              <a:t>SERVO_pick_object() : ouverture pince, descente, saisie, remontée</a:t>
            </a:r>
          </a:p>
          <a:p>
            <a:pPr lvl="1"/>
            <a:r>
              <a:rPr lang="fr-FR" dirty="0"/>
              <a:t>SERVO_drop_at() : pivot vers la zone couleur, dépose, retour repos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E36A20-BB59-45A0-9117-B79DC909F96F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ESEO :: Présentation du projet d’électronique numérique :: 2025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071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Développement matériel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DEEP Purple Complete Board</a:t>
            </a:r>
          </a:p>
          <a:p>
            <a:pPr lvl="1"/>
            <a:r>
              <a:rPr lang="fr-FR" dirty="0"/>
              <a:t>Carte d’interface accueillant la Nucleo + barrettes servos + connecteurs capteur/écran</a:t>
            </a:r>
          </a:p>
          <a:p>
            <a:r>
              <a:rPr lang="fr-FR" b="1" dirty="0"/>
              <a:t>PCB conçu sous Altium Designer</a:t>
            </a:r>
          </a:p>
          <a:p>
            <a:pPr lvl="1"/>
            <a:r>
              <a:rPr lang="fr-FR" dirty="0"/>
              <a:t>Plan de masse sur chaque couche, DRC sans erreur, Gerber générés pour JLCPCB (5 exemplaires)</a:t>
            </a:r>
          </a:p>
          <a:p>
            <a:r>
              <a:rPr lang="fr-FR" b="1" dirty="0"/>
              <a:t>Problèmes rencontrés</a:t>
            </a:r>
          </a:p>
          <a:p>
            <a:pPr lvl="1"/>
            <a:r>
              <a:rPr lang="fr-FR" dirty="0"/>
              <a:t>Conflits de GPIO entre PWM, SPI et I2C — résolu par affectation rigoureuse des broches</a:t>
            </a:r>
          </a:p>
          <a:p>
            <a:pPr lvl="1"/>
            <a:r>
              <a:rPr lang="fr-FR" dirty="0"/>
              <a:t>Instabilité de l’alimentation lors de l’activation simultanée de plusieurs servos — séparation puissance/logique</a:t>
            </a:r>
          </a:p>
          <a:p>
            <a:r>
              <a:rPr lang="fr-FR" b="1" dirty="0"/>
              <a:t>Auto-évaluation PCB</a:t>
            </a:r>
          </a:p>
          <a:p>
            <a:pPr lvl="1"/>
            <a:r>
              <a:rPr lang="fr-FR" dirty="0"/>
              <a:t>Schéma 90/100 — Placement 95/100 — Routage 98/100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E36A20-BB59-45A0-9117-B79DC909F96F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ESEO :: Présentation du projet d’électronique numérique :: 2025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770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Développement logiciel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Découpage en modules</a:t>
            </a:r>
          </a:p>
          <a:p>
            <a:pPr lvl="1"/>
            <a:r>
              <a:rPr lang="fr-FR" dirty="0"/>
              <a:t>config.h — activation des modules (ILI9341, APDS9960, timers, I2C, SPI, UART)</a:t>
            </a:r>
          </a:p>
          <a:p>
            <a:pPr lvl="1"/>
            <a:r>
              <a:rPr lang="fr-FR" dirty="0"/>
              <a:t>main.c — init matérielle + machine à états + interface TFT</a:t>
            </a:r>
          </a:p>
          <a:p>
            <a:pPr lvl="1"/>
            <a:r>
              <a:rPr lang="fr-FR" dirty="0"/>
              <a:t>servo.c / servo.h — pilotage PWM des 5 servomoteurs + séquences pick/drop</a:t>
            </a:r>
          </a:p>
          <a:p>
            <a:pPr lvl="1"/>
            <a:r>
              <a:rPr lang="fr-FR" dirty="0"/>
              <a:t>Drivers BSP réutilisés : stm32g4_ili9341, stm32g4_apds9960, stm32g4_timer, stm32g4_i2c, stm32g4_spi, stm32g4_uart</a:t>
            </a:r>
          </a:p>
          <a:p>
            <a:r>
              <a:rPr lang="fr-FR" b="1" dirty="0"/>
              <a:t>Rôle de chaque module</a:t>
            </a:r>
          </a:p>
          <a:p>
            <a:pPr lvl="1"/>
            <a:r>
              <a:rPr lang="fr-FR" dirty="0"/>
              <a:t>main.c : chef d’orchestre — servo.c : actionneur — APDS driver : détection — ILI9341 driver : affichage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E36A20-BB59-45A0-9117-B79DC909F96F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ESEO :: Présentation du projet d’électronique numérique :: 2025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6537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530" y="274638"/>
            <a:ext cx="7777083" cy="490537"/>
          </a:xfrm>
        </p:spPr>
        <p:txBody>
          <a:bodyPr/>
          <a:lstStyle/>
          <a:p>
            <a:r>
              <a:rPr lang="fr-FR" sz="2800" dirty="0"/>
              <a:t>Développement logiciel - Etats du système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Machine à 4 états (FSM)</a:t>
            </a:r>
          </a:p>
          <a:p>
            <a:pPr lvl="1"/>
            <a:r>
              <a:rPr lang="fr-FR" dirty="0"/>
              <a:t>INIT → calibration APDS-9960, position de repos → transition inconditionnelle vers WAIT_APDS</a:t>
            </a:r>
          </a:p>
          <a:p>
            <a:pPr lvl="1"/>
            <a:r>
              <a:rPr lang="fr-FR" dirty="0"/>
              <a:t>WAIT_APDS → lecture proximité en continu + jauge écran → si proximité &gt; seuil : DECISION</a:t>
            </a:r>
          </a:p>
          <a:p>
            <a:pPr lvl="1"/>
            <a:r>
              <a:rPr lang="fr-FR" dirty="0"/>
              <a:t>DECISION → lecture RGB, couleur dominante → si identifiée : TRIE — sinon : retour WAIT_APDS</a:t>
            </a:r>
          </a:p>
          <a:p>
            <a:pPr lvl="1"/>
            <a:r>
              <a:rPr lang="fr-FR" dirty="0"/>
              <a:t>TRIE → SERVO_pick_object + pivot base + SERVO_drop_at + retour repos → WAIT_APDS</a:t>
            </a:r>
          </a:p>
          <a:p>
            <a:r>
              <a:rPr lang="fr-FR" b="1" dirty="0"/>
              <a:t>Cycle fonctionnel complet</a:t>
            </a:r>
          </a:p>
          <a:p>
            <a:pPr lvl="1"/>
            <a:r>
              <a:rPr lang="fr-FR" dirty="0"/>
              <a:t>Détection de présence → Analyse couleur → Décision → Mouvement bras → Retour attente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E36A20-BB59-45A0-9117-B79DC909F96F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ESEO :: Présentation du projet d’électronique numérique :: 2025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3868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Développement logiciel - tests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Approche itérative : validation périphérique par périphérique</a:t>
            </a:r>
          </a:p>
          <a:p>
            <a:pPr lvl="1"/>
            <a:r>
              <a:rPr lang="fr-FR" dirty="0"/>
              <a:t>Alimentation 5V puissance : OK — LM7805 : 4,96V — LF33CV : 3,28V</a:t>
            </a:r>
          </a:p>
          <a:p>
            <a:pPr lvl="1"/>
            <a:r>
              <a:rPr lang="fr-FR" dirty="0"/>
              <a:t>UART2 (PA2) : trame série correcte observée à l’oscilloscope (Docklite)</a:t>
            </a:r>
          </a:p>
          <a:p>
            <a:pPr lvl="1"/>
            <a:r>
              <a:rPr lang="fr-FR" dirty="0"/>
              <a:t>Servomoteurs PWM : largeurs d’impulsion variables selon commande — OK</a:t>
            </a:r>
          </a:p>
          <a:p>
            <a:pPr lvl="1"/>
            <a:r>
              <a:rPr lang="fr-FR" dirty="0"/>
              <a:t>Bus I2C APDS-9960 : trames SDA/SCL présentes — OK</a:t>
            </a:r>
          </a:p>
          <a:p>
            <a:pPr lvl="1"/>
            <a:r>
              <a:rPr lang="fr-FR" dirty="0"/>
              <a:t>Détection RGB : fonctionnelle — sensible à l’éclairage ambiant</a:t>
            </a:r>
          </a:p>
          <a:p>
            <a:pPr lvl="1"/>
            <a:r>
              <a:rPr lang="fr-FR" dirty="0"/>
              <a:t>Cycle complet de tri : implémenté, testé et validé (séance 05/06)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E36A20-BB59-45A0-9117-B79DC909F96F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ESEO :: Présentation du projet d’électronique numérique :: 2025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5613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530" y="274638"/>
            <a:ext cx="7956470" cy="490537"/>
          </a:xfrm>
        </p:spPr>
        <p:txBody>
          <a:bodyPr/>
          <a:lstStyle/>
          <a:p>
            <a:r>
              <a:rPr lang="fr-FR" sz="2600" dirty="0"/>
              <a:t>Développement logiciel – problèmes rencontrés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Problèmes rencontrés</a:t>
            </a:r>
          </a:p>
          <a:p>
            <a:pPr lvl="1"/>
            <a:r>
              <a:rPr lang="fr-FR" dirty="0"/>
              <a:t>Instabilité I2C lors des premiers tests — résolu par stabilisation du bus et du timing</a:t>
            </a:r>
          </a:p>
          <a:p>
            <a:pPr lvl="1"/>
            <a:r>
              <a:rPr lang="fr-FR" dirty="0"/>
              <a:t>Tremblements des servos au départ — réglage des fréquences PWM et calibration des angles</a:t>
            </a:r>
          </a:p>
          <a:p>
            <a:pPr lvl="1"/>
            <a:r>
              <a:rPr lang="fr-FR" dirty="0"/>
              <a:t>HAL_Delay() bloquant dans l’état DECISION — gel de l’IHM pendant les mouvements</a:t>
            </a:r>
          </a:p>
          <a:p>
            <a:pPr lvl="1"/>
            <a:r>
              <a:rPr lang="fr-FR" dirty="0"/>
              <a:t>Conflits GPIO entre PWM, SPI et I2C — résolution par affectation rigoureuse (voir tableau broches)</a:t>
            </a:r>
          </a:p>
          <a:p>
            <a:pPr lvl="1"/>
            <a:r>
              <a:rPr lang="fr-FR" dirty="0"/>
              <a:t>Cinématique complexe du bras — nombreux essais itératifs pour calibrer les positions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E36A20-BB59-45A0-9117-B79DC909F96F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ESEO :: Présentation du projet d’électronique numérique :: 2025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9937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Démonstration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Démonstration live du système</a:t>
            </a:r>
          </a:p>
          <a:p>
            <a:pPr lvl="1"/>
            <a:r>
              <a:rPr lang="fr-FR" dirty="0"/>
              <a:t>1. Mise sous tension : LED verte allumée, écran affiche « ROBOTIC ARM PROJECT – ESEO »</a:t>
            </a:r>
          </a:p>
          <a:p>
            <a:pPr lvl="1"/>
            <a:r>
              <a:rPr lang="fr-FR" dirty="0"/>
              <a:t>2. État ATTENTE OBJET : jauge de proximité se remplit à l’approche</a:t>
            </a:r>
          </a:p>
          <a:p>
            <a:pPr lvl="1"/>
            <a:r>
              <a:rPr lang="fr-FR" dirty="0"/>
              <a:t>3. État ANALYSE : affichage RGB + carré de prévisualisation couleur + résultat ROUGE/VERT/BLEU</a:t>
            </a:r>
          </a:p>
          <a:p>
            <a:pPr lvl="1"/>
            <a:r>
              <a:rPr lang="fr-FR" dirty="0"/>
              <a:t>4. TRI : bras saisit l’objet, pivote, dépose dans la zone, revient en attente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E36A20-BB59-45A0-9117-B79DC909F96F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ESEO :: Présentation du projet d’électronique numérique :: 2025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0099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Améliorations logicielles</a:t>
            </a:r>
          </a:p>
          <a:p>
            <a:pPr lvl="1"/>
            <a:r>
              <a:rPr lang="fr-FR" dirty="0"/>
              <a:t>Remplacer les HAL_Delay() bloquants par une gestion non bloquante (Systick/interruptions)</a:t>
            </a:r>
          </a:p>
          <a:p>
            <a:pPr lvl="1"/>
            <a:r>
              <a:rPr lang="fr-FR" dirty="0"/>
              <a:t>Meilleure modularisation du code : séparation nette moteurs / communication / capteurs</a:t>
            </a:r>
          </a:p>
          <a:p>
            <a:r>
              <a:rPr lang="fr-FR" b="1" dirty="0"/>
              <a:t>Améliorations matérielles</a:t>
            </a:r>
          </a:p>
          <a:p>
            <a:pPr lvl="1"/>
            <a:r>
              <a:rPr lang="fr-FR" dirty="0"/>
              <a:t>Fiabilisation de la détection de couleur (correction colorimétrique, compensation luminosité)</a:t>
            </a:r>
          </a:p>
          <a:p>
            <a:pPr lvl="1"/>
            <a:r>
              <a:rPr lang="fr-FR" dirty="0"/>
              <a:t>Calibration fine de la cinématique — ajout d’un retour de position (encodeurs)</a:t>
            </a:r>
          </a:p>
          <a:p>
            <a:r>
              <a:rPr lang="fr-FR" b="1" dirty="0"/>
              <a:t>Extension fonctionnelle</a:t>
            </a:r>
          </a:p>
          <a:p>
            <a:pPr lvl="1"/>
            <a:r>
              <a:rPr lang="fr-FR" dirty="0"/>
              <a:t>Tri de plus de 3 couleurs — vision artificielle (caméra) — boîtier CAO dédié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E36A20-BB59-45A0-9117-B79DC909F96F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ESEO :: Présentation du projet d’électronique numérique :: 2025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6256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Un projet d’ingénierie complet</a:t>
            </a:r>
          </a:p>
          <a:p>
            <a:pPr lvl="1"/>
            <a:r>
              <a:rPr lang="fr-FR" dirty="0"/>
              <a:t>De la conception matérielle (PCB, câblage, alimentation) à l’implémentation logicielle (FSM, PWM, I2C, SPI) jusqu’à la validation expérimentale.</a:t>
            </a:r>
          </a:p>
          <a:p>
            <a:r>
              <a:rPr lang="fr-FR" b="1" dirty="0"/>
              <a:t>Points clés retenus</a:t>
            </a:r>
          </a:p>
          <a:p>
            <a:pPr lvl="1"/>
            <a:r>
              <a:rPr lang="fr-FR" dirty="0"/>
              <a:t>Architecture FSM lisible — chaque brique validée individuellement à l’oscilloscope</a:t>
            </a:r>
          </a:p>
          <a:p>
            <a:pPr lvl="1"/>
            <a:r>
              <a:rPr lang="fr-FR" dirty="0"/>
              <a:t>Cycle de tri complet fonctionnel : détection → préhension → dépose</a:t>
            </a:r>
          </a:p>
          <a:p>
            <a:r>
              <a:rPr lang="fr-FR" b="1" dirty="0"/>
              <a:t>Défis surmountés</a:t>
            </a:r>
          </a:p>
          <a:p>
            <a:pPr lvl="1"/>
            <a:r>
              <a:rPr lang="fr-FR" dirty="0"/>
              <a:t>Stabilisation des alimentations et des bus face à la charge variable des servomoteurs</a:t>
            </a:r>
          </a:p>
          <a:p>
            <a:pPr lvl="1"/>
            <a:r>
              <a:rPr lang="fr-FR" dirty="0"/>
              <a:t>Gestion des conflits GPIO — cinématique du bras calibrée itérativement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E36A20-BB59-45A0-9117-B79DC909F96F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ESEO :: Présentation du projet d’électronique numérique :: 2025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22714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TID" val="589375794"/>
</p:tagLst>
</file>

<file path=ppt/theme/theme1.xml><?xml version="1.0" encoding="utf-8"?>
<a:theme xmlns:a="http://schemas.openxmlformats.org/drawingml/2006/main" name="Modele_ESEO">
  <a:themeElements>
    <a:clrScheme name="Modele_ESE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ele_ESE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ele_ESE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_ESE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_ESE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_ESE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_ESE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_ESE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_ESE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_ESE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_ESE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_ESE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_ESE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_ESE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81955</TotalTime>
  <Words>951</Words>
  <Application>Microsoft Office PowerPoint</Application>
  <PresentationFormat>Affichage à l'écran (4:3)</PresentationFormat>
  <Paragraphs>140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Wingdings</vt:lpstr>
      <vt:lpstr>Modele_ESEO</vt:lpstr>
      <vt:lpstr>Projet d’électronique numérique</vt:lpstr>
      <vt:lpstr>Présentation PowerPoint</vt:lpstr>
      <vt:lpstr>Sommaire</vt:lpstr>
      <vt:lpstr>But du projet</vt:lpstr>
      <vt:lpstr>Spécifications</vt:lpstr>
      <vt:lpstr>Composants utilisés</vt:lpstr>
      <vt:lpstr>Capteur de température DS18B20</vt:lpstr>
      <vt:lpstr>Actionneur </vt:lpstr>
      <vt:lpstr>Développement matériel</vt:lpstr>
      <vt:lpstr>Développement logiciel</vt:lpstr>
      <vt:lpstr>Développement logiciel - Etats du système</vt:lpstr>
      <vt:lpstr>Développement logiciel - tests</vt:lpstr>
      <vt:lpstr>Développement logiciel – problèmes rencontrés</vt:lpstr>
      <vt:lpstr>Démonstration</vt:lpstr>
      <vt:lpstr>Perspectives</vt:lpstr>
      <vt:lpstr>Conclusion</vt:lpstr>
    </vt:vector>
  </TitlesOfParts>
  <Company>ESEO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en Arial 32 blanche gras</dc:title>
  <dc:creator>Saubin</dc:creator>
  <cp:lastModifiedBy>POIRAUD Samuel</cp:lastModifiedBy>
  <cp:revision>1780</cp:revision>
  <cp:lastPrinted>2014-09-22T13:52:27Z</cp:lastPrinted>
  <dcterms:created xsi:type="dcterms:W3CDTF">2006-12-06T07:49:15Z</dcterms:created>
  <dcterms:modified xsi:type="dcterms:W3CDTF">2023-08-25T13:17:59Z</dcterms:modified>
</cp:coreProperties>
</file>